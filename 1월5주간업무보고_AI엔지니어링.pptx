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6858000" cx="9906000"/>
  <p:notesSz cx="6797675" cy="992662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gnrYECY4JiX/dEjqReuKu0KpBQ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8FA427-CB96-4E00-B161-538A03E3D982}">
  <a:tblStyle styleId="{9B8FA427-CB96-4E00-B161-538A03E3D98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1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customschemas.google.com/relationships/presentationmetadata" Target="metadata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2" type="sldNum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 txBox="1"/>
          <p:nvPr>
            <p:ph idx="12" type="sldNum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711200" y="744538"/>
            <a:ext cx="537527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/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"/>
          <p:cNvSpPr txBox="1"/>
          <p:nvPr>
            <p:ph idx="1" type="subTitle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6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" type="body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28" name="Google Shape;28;p7"/>
          <p:cNvCxnSpPr/>
          <p:nvPr/>
        </p:nvCxnSpPr>
        <p:spPr>
          <a:xfrm>
            <a:off x="252363" y="603272"/>
            <a:ext cx="9361041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8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3" type="body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0"/>
          <p:cNvSpPr txBox="1"/>
          <p:nvPr>
            <p:ph idx="4" type="body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" type="body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3"/>
          <p:cNvSpPr txBox="1"/>
          <p:nvPr>
            <p:ph idx="2" type="body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3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4"/>
          <p:cNvSpPr/>
          <p:nvPr>
            <p:ph idx="2" type="pic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2777332" y="-270668"/>
            <a:ext cx="4351338" cy="854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 rot="5400000">
            <a:off x="5251054" y="2203054"/>
            <a:ext cx="5811838" cy="21359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 rot="5400000">
            <a:off x="917179" y="128984"/>
            <a:ext cx="5811838" cy="6284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cxnSp>
        <p:nvCxnSpPr>
          <p:cNvPr id="15" name="Google Shape;15;p5"/>
          <p:cNvCxnSpPr/>
          <p:nvPr/>
        </p:nvCxnSpPr>
        <p:spPr>
          <a:xfrm>
            <a:off x="252363" y="603272"/>
            <a:ext cx="9361041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8171160" y="304608"/>
            <a:ext cx="1534394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AI엔지니어링 파트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272480" y="7647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{9B8FA427-CB96-4E00-B161-538A03E3D982}</a:tableStyleId>
              </a:tblPr>
              <a:tblGrid>
                <a:gridCol w="4716525"/>
                <a:gridCol w="4716525"/>
              </a:tblGrid>
              <a:tr h="267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추진실적 (2026.1.26 ~ 2026.1.30)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800" marB="46800" marR="43200" marL="432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추진계획 (2026.2.2 ~ 2026.2.6)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800" marB="46800" marR="43200" marL="432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50196"/>
                      </a:srgbClr>
                    </a:solidFill>
                  </a:tcPr>
                </a:tc>
              </a:tr>
              <a:tr h="5348800">
                <a:tc>
                  <a:txBody>
                    <a:bodyPr/>
                    <a:lstStyle/>
                    <a:p>
                      <a:pPr indent="-82550" lvl="0" marL="889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ITSM 운영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ITSM 운영 및 개선 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*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서버 자원 신규 신청서 개선 완료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*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ERP 영업지원 통합 관리 체계 구축 진행(~2월)</a:t>
                      </a:r>
                      <a:endParaRPr/>
                    </a:p>
                    <a:p>
                      <a:pPr indent="-14287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*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부서보안담당자 신청서 결재라인 변경 완료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*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ITSM 통한 ALM 계정 관리 개선 진행(~2월)</a:t>
                      </a:r>
                      <a:endParaRPr/>
                    </a:p>
                    <a:p>
                      <a:pPr indent="-14287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*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타시스템 연동 API 모니터링 개발 진행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800" marB="46800" marR="43200" marL="432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82550" lvl="0" marL="889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ITSM 운영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ITSM 운영 및 개선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*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SBOM 체계 구축 JASCA 연동 분석 설계 (~1월)</a:t>
                      </a:r>
                      <a:endParaRPr/>
                    </a:p>
                    <a:p>
                      <a:pPr indent="-14287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*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RAG 관리 메뉴 지속적 개선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*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ITSM 시스템 AI 에이전트 적용 연구 </a:t>
                      </a:r>
                      <a:endParaRPr/>
                    </a:p>
                    <a:p>
                      <a:pPr indent="0" lvl="1" marL="306388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1" marL="306388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800" marB="46800" marR="43200" marL="432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"/>
          <p:cNvSpPr/>
          <p:nvPr/>
        </p:nvSpPr>
        <p:spPr>
          <a:xfrm>
            <a:off x="158907" y="114187"/>
            <a:ext cx="3571812" cy="486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주간업무 추진실적 및 계획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8171160" y="304608"/>
            <a:ext cx="1534394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AI엔지니어링 파트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9" name="Google Shape;99;p2"/>
          <p:cNvGraphicFramePr/>
          <p:nvPr/>
        </p:nvGraphicFramePr>
        <p:xfrm>
          <a:off x="273049" y="7647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{9B8FA427-CB96-4E00-B161-538A03E3D982}</a:tableStyleId>
              </a:tblPr>
              <a:tblGrid>
                <a:gridCol w="4679950"/>
                <a:gridCol w="4679950"/>
              </a:tblGrid>
              <a:tr h="280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추진실적 (2026.1.26 ~ 2026.1.30)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800" marB="46800" marR="43200" marL="432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추진계획 (2026.2.2 ~ 2026.2.6)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800" marB="46800" marR="43200" marL="432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50196"/>
                      </a:srgbClr>
                    </a:solidFill>
                  </a:tcPr>
                </a:tc>
              </a:tr>
              <a:tr h="5480425">
                <a:tc>
                  <a:txBody>
                    <a:bodyPr/>
                    <a:lstStyle/>
                    <a:p>
                      <a:pPr indent="-82550" lvl="0" marL="889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ITAM 운영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195263" marR="0" rtl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ITAM 운영 및 개선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*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자산 점검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82550" lvl="0" marL="88900" marR="0" rtl="0" algn="l">
                        <a:lnSpc>
                          <a:spcPct val="15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운영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195263" marR="0" rtl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AI 서비스 플랫폼 구축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*"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포털 구축 진행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*"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최신 모델, 평가 지표 분석 및 가이드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195263" marR="0" rtl="0" algn="l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RAG 기반 기술 오픈 소스 검토 – MCP</a:t>
                      </a:r>
                      <a:endParaRPr/>
                    </a:p>
                    <a:p>
                      <a:pPr indent="0" lvl="0" marL="195263" marR="0" rtl="0" algn="l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 AI 고도화 및 기능 개선 안정화</a:t>
                      </a:r>
                      <a:endParaRPr/>
                    </a:p>
                    <a:p>
                      <a:pPr indent="-6032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800" marB="46800" marR="43200" marL="432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82550" lvl="0" marL="889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ITAM 운영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ITAM 운영 및 개선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*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자산 점검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82550" lvl="0" marL="88900" marR="0" rtl="0" algn="l">
                        <a:lnSpc>
                          <a:spcPct val="15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운영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서비스 플랫폼 구축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*"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포털 구축 진행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메신저 챗봇 유지보수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NL2SQL 관련 오픈소스 기술 검토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OCR 오픈소스 기술 검토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RAG 기반 기술 오픈 소스 검토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API Gateway 기술 검토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AI 고도화 및 기능 개선 안정화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*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모델 다운로드 위한 DMZ Proxy 서버 구축 진행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챗봇 계정 관리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800" marB="46800" marR="43200" marL="432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" name="Google Shape;100;p2"/>
          <p:cNvSpPr/>
          <p:nvPr/>
        </p:nvSpPr>
        <p:spPr>
          <a:xfrm>
            <a:off x="158907" y="114187"/>
            <a:ext cx="3571812" cy="486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주간업무 추진실적 및 계획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8171160" y="304608"/>
            <a:ext cx="1534394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AI엔지니어링 파트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7" name="Google Shape;107;p3"/>
          <p:cNvGraphicFramePr/>
          <p:nvPr/>
        </p:nvGraphicFramePr>
        <p:xfrm>
          <a:off x="273049" y="7647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{9B8FA427-CB96-4E00-B161-538A03E3D982}</a:tableStyleId>
              </a:tblPr>
              <a:tblGrid>
                <a:gridCol w="4679950"/>
                <a:gridCol w="4679950"/>
              </a:tblGrid>
              <a:tr h="30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추진실적 (2026.1.26 ~ 2026.1.30)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800" marB="46800" marR="43200" marL="432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추진계획 (2026.2.2 ~ 2026.2.6)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800" marB="46800" marR="43200" marL="432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50196"/>
                      </a:srgbClr>
                    </a:solidFill>
                  </a:tcPr>
                </a:tc>
              </a:tr>
              <a:tr h="5313225">
                <a:tc>
                  <a:txBody>
                    <a:bodyPr/>
                    <a:lstStyle/>
                    <a:p>
                      <a:pPr indent="-82550" lvl="0" marL="889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ALM 운영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ALM 지속적 가이드 및 인수인계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컨플루언스 라이선스 오버 이슈 해결 완료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넥서스 레파지토리 인수인계 및 업무 분석 진행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800" marB="46800" marR="43200" marL="432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82550" lvl="0" marL="889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ALM 운영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ALM 계정 추가/권한 변경 관리 및 사용 점검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ALM 지속적 가이드 및 인수인계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60325" lvl="0" marL="338138" marR="0" rtl="0" algn="l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60325" lvl="0" marL="338138" marR="0" rtl="0" algn="l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88900" marR="0" rtl="0" algn="l">
                        <a:lnSpc>
                          <a:spcPct val="15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r>
                        <a:t/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800" marB="46800" marR="43200" marL="432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" name="Google Shape;108;p3"/>
          <p:cNvSpPr/>
          <p:nvPr/>
        </p:nvSpPr>
        <p:spPr>
          <a:xfrm>
            <a:off x="158907" y="114187"/>
            <a:ext cx="3571812" cy="486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주간업무 추진실적 및 계획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8171160" y="304608"/>
            <a:ext cx="1534394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AI엔지니어링 파트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5" name="Google Shape;115;p4"/>
          <p:cNvGraphicFramePr/>
          <p:nvPr/>
        </p:nvGraphicFramePr>
        <p:xfrm>
          <a:off x="273049" y="7647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{9B8FA427-CB96-4E00-B161-538A03E3D982}</a:tableStyleId>
              </a:tblPr>
              <a:tblGrid>
                <a:gridCol w="4679950"/>
                <a:gridCol w="4679950"/>
              </a:tblGrid>
              <a:tr h="30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추진실적 (2026.1.26 ~ 2026.1.30)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800" marB="46800" marR="43200" marL="432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추진계획 (2026.2.2 ~ 2026.2.6)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800" marB="46800" marR="43200" marL="4320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>
                        <a:alpha val="50196"/>
                      </a:srgbClr>
                    </a:solidFill>
                  </a:tcPr>
                </a:tc>
              </a:tr>
              <a:tr h="5313225">
                <a:tc>
                  <a:txBody>
                    <a:bodyPr/>
                    <a:lstStyle/>
                    <a:p>
                      <a:pPr indent="-82550" lvl="0" marL="889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기타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빌링 자동화 TF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*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자동화 분석 설계 및 개발 진행</a:t>
                      </a:r>
                      <a:endParaRPr/>
                    </a:p>
                    <a:p>
                      <a:pPr indent="-6032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CB 회원사 모니터링 대시보드 구축 가이드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60325" lvl="0" marL="338138" marR="0" rtl="0" algn="l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오픈소스 운영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*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 커뮤니티 버전 기능 검토 </a:t>
                      </a:r>
                      <a:b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800" marB="46800" marR="43200" marL="432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82550" lvl="0" marL="8890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•"/>
                      </a:pPr>
                      <a:r>
                        <a:rPr b="1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기타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빌링 자동화 TF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*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자동화 분석 설계 및 개발 진행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*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가수금 반제 처리 자동화 POC</a:t>
                      </a:r>
                      <a:endParaRPr/>
                    </a:p>
                    <a:p>
                      <a:pPr indent="-6032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오픈소스 운영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*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 커뮤니티 버전 기능 검토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*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SSO Keycloak 개발/코어 신규 설치 완료 (상반기)</a:t>
                      </a:r>
                      <a:endParaRPr/>
                    </a:p>
                    <a:p>
                      <a:pPr indent="-6032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서버 EOS 대응</a:t>
                      </a:r>
                      <a:endParaRPr b="1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*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CentOS &gt; 레드헷 OS 업그레이드 실 서버 적용(~6월)</a:t>
                      </a:r>
                      <a:endParaRPr/>
                    </a:p>
                    <a:p>
                      <a:pPr indent="-6032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서버 EOS 대응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142875" lvl="0" marL="338138" marR="0" rtl="0" algn="l">
                        <a:lnSpc>
                          <a:spcPct val="12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-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</a:t>
                      </a:r>
                      <a:endParaRPr/>
                    </a:p>
                    <a:p>
                      <a:pPr indent="-142875" lvl="1" marL="449263" marR="0" rtl="0" algn="l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Char char="*"/>
                      </a:pPr>
                      <a:r>
                        <a:rPr b="0" i="0" lang="ko-KR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지속적인 BI 관리 대시보드 개발/운영</a:t>
                      </a:r>
                      <a:endParaRPr b="0"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6800" marB="46800" marR="43200" marL="43200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" name="Google Shape;116;p4"/>
          <p:cNvSpPr/>
          <p:nvPr/>
        </p:nvSpPr>
        <p:spPr>
          <a:xfrm>
            <a:off x="158907" y="114187"/>
            <a:ext cx="3571812" cy="486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주간업무 추진실적 및 계획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2019-10-02T00:43:20Z</dcterms:created>
  <dc:creator>박기웅</dc:creator>
</cp:coreProperties>
</file>